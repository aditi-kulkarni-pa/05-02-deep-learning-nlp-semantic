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embeddedFontLst>
    <p:embeddedFont>
      <p:font typeface="Proxima Nova"/>
      <p:regular r:id="rId30"/>
      <p:bold r:id="rId31"/>
      <p:italic r:id="rId32"/>
      <p:boldItalic r:id="rId33"/>
    </p:embeddedFont>
    <p:embeddedFont>
      <p:font typeface="Roboto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681ABE-C7CE-4E52-A519-F9F18DD80B4B}">
  <a:tblStyle styleId="{CC681ABE-C7CE-4E52-A519-F9F18DD80B4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5.xml"/><Relationship Id="rId41" Type="http://schemas.openxmlformats.org/officeDocument/2006/relationships/font" Target="fonts/Lat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ximaNova-bold.fntdata"/><Relationship Id="rId30" Type="http://schemas.openxmlformats.org/officeDocument/2006/relationships/font" Target="fonts/ProximaNova-regular.fntdata"/><Relationship Id="rId11" Type="http://schemas.openxmlformats.org/officeDocument/2006/relationships/slide" Target="slides/slide6.xml"/><Relationship Id="rId33" Type="http://schemas.openxmlformats.org/officeDocument/2006/relationships/font" Target="fonts/ProximaNova-boldItalic.fntdata"/><Relationship Id="rId10" Type="http://schemas.openxmlformats.org/officeDocument/2006/relationships/slide" Target="slides/slide5.xml"/><Relationship Id="rId32" Type="http://schemas.openxmlformats.org/officeDocument/2006/relationships/font" Target="fonts/ProximaNova-italic.fntdata"/><Relationship Id="rId13" Type="http://schemas.openxmlformats.org/officeDocument/2006/relationships/slide" Target="slides/slide8.xml"/><Relationship Id="rId35" Type="http://schemas.openxmlformats.org/officeDocument/2006/relationships/font" Target="fonts/Roboto-bold.fntdata"/><Relationship Id="rId12" Type="http://schemas.openxmlformats.org/officeDocument/2006/relationships/slide" Target="slides/slide7.xml"/><Relationship Id="rId34" Type="http://schemas.openxmlformats.org/officeDocument/2006/relationships/font" Target="fonts/Robot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-italic.fntdata"/><Relationship Id="rId17" Type="http://schemas.openxmlformats.org/officeDocument/2006/relationships/slide" Target="slides/slide12.xml"/><Relationship Id="rId39" Type="http://schemas.openxmlformats.org/officeDocument/2006/relationships/font" Target="fonts/Lato-bold.fntdata"/><Relationship Id="rId16" Type="http://schemas.openxmlformats.org/officeDocument/2006/relationships/slide" Target="slides/slide11.xml"/><Relationship Id="rId38" Type="http://schemas.openxmlformats.org/officeDocument/2006/relationships/font" Target="fonts/La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7" name="Google Shape;11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885228" y="620518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72D4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822635" y="5349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0" y="1"/>
            <a:ext cx="12192000" cy="620518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35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5229" y="762517"/>
            <a:ext cx="2743200" cy="731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97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1756">
          <p15:clr>
            <a:srgbClr val="FBAE40"/>
          </p15:clr>
        </p15:guide>
        <p15:guide id="5" pos="33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vider">
  <p:cSld name="1_Divi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Proxima Nov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b="0" i="0" sz="12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b="0" i="0" sz="12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b="0" i="0" sz="12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b="0" i="0" sz="12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b="0" i="0" sz="12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b="0" i="0" sz="12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b="0" i="0" sz="12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b="0" i="0" sz="12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b="0" i="0" sz="12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1" y="728134"/>
            <a:ext cx="4346359" cy="537865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/>
        </p:nvSpPr>
        <p:spPr>
          <a:xfrm>
            <a:off x="1295400" y="1680839"/>
            <a:ext cx="3403848" cy="2106967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0" i="0" lang="en-US" sz="1867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1" y="728134"/>
            <a:ext cx="4346359" cy="5378652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"/>
          <p:cNvSpPr txBox="1"/>
          <p:nvPr/>
        </p:nvSpPr>
        <p:spPr>
          <a:xfrm>
            <a:off x="1295400" y="1680839"/>
            <a:ext cx="3403848" cy="2106967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0" i="0" lang="en-US" sz="1867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90">
          <p15:clr>
            <a:srgbClr val="FBAE40"/>
          </p15:clr>
        </p15:guide>
        <p15:guide id="2" pos="612">
          <p15:clr>
            <a:srgbClr val="FBAE40"/>
          </p15:clr>
        </p15:guide>
        <p15:guide id="3" pos="2222">
          <p15:clr>
            <a:srgbClr val="FBAE40"/>
          </p15:clr>
        </p15:guide>
        <p15:guide id="4" orient="horz" pos="16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Divi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-575" y="0"/>
            <a:ext cx="12192000" cy="68580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>
            <p:ph type="title"/>
          </p:nvPr>
        </p:nvSpPr>
        <p:spPr>
          <a:xfrm>
            <a:off x="840317" y="725998"/>
            <a:ext cx="7987424" cy="749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" name="Google Shape;3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49227" y="404813"/>
            <a:ext cx="1213040" cy="32385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2384" y="280085"/>
            <a:ext cx="1084840" cy="28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2 Line Title and Content">
  <p:cSld name="1_2 Line Title and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4404785" y="2421467"/>
            <a:ext cx="7020983" cy="34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5"/>
          <p:cNvSpPr/>
          <p:nvPr/>
        </p:nvSpPr>
        <p:spPr>
          <a:xfrm>
            <a:off x="0" y="0"/>
            <a:ext cx="12192000" cy="849149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35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422239" y="162622"/>
            <a:ext cx="4981204" cy="510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b="0" i="0" sz="3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6" name="Google Shape;4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72384" y="280085"/>
            <a:ext cx="1084840" cy="28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97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2794">
          <p15:clr>
            <a:srgbClr val="FBAE40"/>
          </p15:clr>
        </p15:guide>
        <p15:guide id="5" pos="2081">
          <p15:clr>
            <a:srgbClr val="FBAE40"/>
          </p15:clr>
        </p15:guide>
        <p15:guide id="6" orient="horz" pos="11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2B2B2B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 title="Page Number Shape"/>
          <p:cNvSpPr/>
          <p:nvPr/>
        </p:nvSpPr>
        <p:spPr>
          <a:xfrm>
            <a:off x="11784011" y="5783564"/>
            <a:ext cx="407988" cy="819150"/>
          </a:xfrm>
          <a:custGeom>
            <a:rect b="b" l="l" r="r" t="t"/>
            <a:pathLst>
              <a:path extrusionOk="0" h="3612" w="1799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49" name="Google Shape;49;p6" title="Verticle Rule Line"/>
          <p:cNvCxnSpPr/>
          <p:nvPr/>
        </p:nvCxnSpPr>
        <p:spPr>
          <a:xfrm>
            <a:off x="758952" y="1280160"/>
            <a:ext cx="0" cy="557784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" name="Google Shape;50;p6"/>
          <p:cNvSpPr txBox="1"/>
          <p:nvPr>
            <p:ph type="ctrTitle"/>
          </p:nvPr>
        </p:nvSpPr>
        <p:spPr>
          <a:xfrm>
            <a:off x="1078992" y="1143000"/>
            <a:ext cx="6720840" cy="3730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7200"/>
              <a:buFont typeface="Arial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subTitle"/>
          </p:nvPr>
        </p:nvSpPr>
        <p:spPr>
          <a:xfrm>
            <a:off x="1078992" y="5010912"/>
            <a:ext cx="6720840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2200"/>
              <a:buNone/>
              <a:defRPr sz="2200"/>
            </a:lvl1pPr>
            <a:lvl2pPr lvl="1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2" name="Google Shape;52;p6"/>
          <p:cNvSpPr txBox="1"/>
          <p:nvPr>
            <p:ph idx="10" type="dt"/>
          </p:nvPr>
        </p:nvSpPr>
        <p:spPr>
          <a:xfrm>
            <a:off x="8286356" y="6007608"/>
            <a:ext cx="31436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1" type="ftr"/>
          </p:nvPr>
        </p:nvSpPr>
        <p:spPr>
          <a:xfrm>
            <a:off x="1078991" y="6007608"/>
            <a:ext cx="67208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2pPr>
            <a:lvl3pPr indent="-3429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4pPr>
            <a:lvl5pPr indent="-3429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0" type="dt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1" type="ftr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idx="1" type="body"/>
          </p:nvPr>
        </p:nvSpPr>
        <p:spPr>
          <a:xfrm>
            <a:off x="5184648" y="758952"/>
            <a:ext cx="6245352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2pPr>
            <a:lvl3pPr indent="-3429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4pPr>
            <a:lvl5pPr indent="-3429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2" type="body"/>
          </p:nvPr>
        </p:nvSpPr>
        <p:spPr>
          <a:xfrm>
            <a:off x="5184647" y="3273551"/>
            <a:ext cx="6245351" cy="22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2pPr>
            <a:lvl3pPr indent="-3429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4pPr>
            <a:lvl5pPr indent="-3429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0" type="dt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1" type="ftr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idx="1" type="body"/>
          </p:nvPr>
        </p:nvSpPr>
        <p:spPr>
          <a:xfrm>
            <a:off x="5184648" y="758952"/>
            <a:ext cx="62453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200"/>
              <a:buNone/>
              <a:defRPr b="0" i="1" sz="2200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5190323" y="1377198"/>
            <a:ext cx="623967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2pPr>
            <a:lvl3pPr indent="-3429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4pPr>
            <a:lvl5pPr indent="-3429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3" type="body"/>
          </p:nvPr>
        </p:nvSpPr>
        <p:spPr>
          <a:xfrm>
            <a:off x="5184647" y="3319548"/>
            <a:ext cx="6245351" cy="548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200"/>
              <a:buNone/>
              <a:defRPr b="0" i="1" sz="2200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9"/>
          <p:cNvSpPr txBox="1"/>
          <p:nvPr>
            <p:ph idx="4" type="body"/>
          </p:nvPr>
        </p:nvSpPr>
        <p:spPr>
          <a:xfrm>
            <a:off x="5184646" y="3932372"/>
            <a:ext cx="6245352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2pPr>
            <a:lvl3pPr indent="-3429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4pPr>
            <a:lvl5pPr indent="-3429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0" type="dt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1" type="ftr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/>
          <p:nvPr>
            <p:ph idx="1" type="body"/>
          </p:nvPr>
        </p:nvSpPr>
        <p:spPr>
          <a:xfrm>
            <a:off x="5183188" y="758951"/>
            <a:ext cx="6245352" cy="4754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000"/>
              <a:buChar char="•"/>
              <a:defRPr sz="2000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sz="1800"/>
            </a:lvl2pPr>
            <a:lvl3pPr indent="-3302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4" name="Google Shape;84;p11"/>
          <p:cNvSpPr txBox="1"/>
          <p:nvPr>
            <p:ph idx="2" type="body"/>
          </p:nvPr>
        </p:nvSpPr>
        <p:spPr>
          <a:xfrm>
            <a:off x="758953" y="3815080"/>
            <a:ext cx="3831336" cy="1698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11"/>
          <p:cNvSpPr txBox="1"/>
          <p:nvPr>
            <p:ph idx="10" type="dt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1" type="ftr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11"/>
          <p:cNvSpPr txBox="1"/>
          <p:nvPr>
            <p:ph type="title"/>
          </p:nvPr>
        </p:nvSpPr>
        <p:spPr>
          <a:xfrm>
            <a:off x="758952" y="758952"/>
            <a:ext cx="3831336" cy="2930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>
            <p:ph idx="2" type="pic"/>
          </p:nvPr>
        </p:nvSpPr>
        <p:spPr>
          <a:xfrm>
            <a:off x="5183188" y="758951"/>
            <a:ext cx="6245352" cy="4754881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12"/>
          <p:cNvSpPr txBox="1"/>
          <p:nvPr>
            <p:ph idx="1" type="body"/>
          </p:nvPr>
        </p:nvSpPr>
        <p:spPr>
          <a:xfrm>
            <a:off x="758952" y="3794760"/>
            <a:ext cx="3831336" cy="1719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2" name="Google Shape;92;p12"/>
          <p:cNvSpPr txBox="1"/>
          <p:nvPr>
            <p:ph idx="10" type="dt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1" type="ftr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2"/>
          <p:cNvSpPr txBox="1"/>
          <p:nvPr>
            <p:ph type="title"/>
          </p:nvPr>
        </p:nvSpPr>
        <p:spPr>
          <a:xfrm>
            <a:off x="758952" y="758952"/>
            <a:ext cx="3831336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" type="body"/>
          </p:nvPr>
        </p:nvSpPr>
        <p:spPr>
          <a:xfrm rot="5400000">
            <a:off x="5929884" y="13716"/>
            <a:ext cx="4754880" cy="6245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2pPr>
            <a:lvl3pPr indent="-3429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4pPr>
            <a:lvl5pPr indent="-3429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0" type="dt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1" type="ftr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title"/>
          </p:nvPr>
        </p:nvSpPr>
        <p:spPr>
          <a:xfrm rot="5400000">
            <a:off x="7459770" y="1774724"/>
            <a:ext cx="4986002" cy="2954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" type="body"/>
          </p:nvPr>
        </p:nvSpPr>
        <p:spPr>
          <a:xfrm rot="5400000">
            <a:off x="1969744" y="-451840"/>
            <a:ext cx="4986002" cy="7407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2pPr>
            <a:lvl3pPr indent="-3429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4pPr>
            <a:lvl5pPr indent="-3429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0" type="dt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1" type="ftr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 title="Page Number Shape"/>
          <p:cNvSpPr/>
          <p:nvPr/>
        </p:nvSpPr>
        <p:spPr>
          <a:xfrm>
            <a:off x="11784011" y="5778801"/>
            <a:ext cx="407988" cy="819150"/>
          </a:xfrm>
          <a:custGeom>
            <a:rect b="b" l="l" r="r" t="t"/>
            <a:pathLst>
              <a:path extrusionOk="0" h="3612" w="1799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  <a:defRPr b="0" i="1" sz="6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  <a:defRPr b="0" i="1" sz="1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  <a:defRPr b="0" i="1" sz="14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Relationship Id="rId5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/>
        </p:nvSpPr>
        <p:spPr>
          <a:xfrm>
            <a:off x="740049" y="2819882"/>
            <a:ext cx="9193696" cy="1562647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333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9827" y="0"/>
            <a:ext cx="1808723" cy="21033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8822635" y="5349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7695" l="0" r="0" t="7698"/>
          <a:stretch/>
        </p:blipFill>
        <p:spPr>
          <a:xfrm>
            <a:off x="0" y="-1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>
            <p:ph idx="10" type="dt"/>
          </p:nvPr>
        </p:nvSpPr>
        <p:spPr>
          <a:xfrm>
            <a:off x="8509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2D3F"/>
              </a:buClr>
              <a:buSzPts val="1400"/>
              <a:buNone/>
            </a:pPr>
            <a:r>
              <a:rPr lang="en-US" sz="1200">
                <a:solidFill>
                  <a:srgbClr val="E72D3F"/>
                </a:solidFill>
                <a:latin typeface="Proxima Nova"/>
                <a:ea typeface="Proxima Nova"/>
                <a:cs typeface="Proxima Nova"/>
                <a:sym typeface="Proxima Nova"/>
              </a:rPr>
              <a:t>2305/19</a:t>
            </a:r>
            <a:endParaRPr sz="1200">
              <a:solidFill>
                <a:srgbClr val="E72D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1" name="Google Shape;121;p16"/>
          <p:cNvSpPr txBox="1"/>
          <p:nvPr>
            <p:ph idx="12" type="sldNum"/>
          </p:nvPr>
        </p:nvSpPr>
        <p:spPr>
          <a:xfrm>
            <a:off x="86233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2D3F"/>
              </a:buClr>
              <a:buSzPts val="900"/>
              <a:buNone/>
            </a:pPr>
            <a:fld id="{00000000-1234-1234-1234-123412341234}" type="slidenum">
              <a:rPr lang="en-US">
                <a:solidFill>
                  <a:srgbClr val="E72D3F"/>
                </a:solidFill>
              </a:rPr>
              <a:t>‹#›</a:t>
            </a:fld>
            <a:endParaRPr>
              <a:solidFill>
                <a:srgbClr val="E72D3F"/>
              </a:solidFill>
            </a:endParaRPr>
          </a:p>
        </p:txBody>
      </p:sp>
      <p:pic>
        <p:nvPicPr>
          <p:cNvPr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434" y="0"/>
            <a:ext cx="5082633" cy="617936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60933" y="1417367"/>
            <a:ext cx="4764000" cy="15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Live Session On :</a:t>
            </a:r>
            <a:r>
              <a:rPr b="0" i="0" lang="en-US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Core on Semantic Processing</a:t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Instructor : Tanisha Medewala</a:t>
            </a:r>
            <a:endParaRPr b="0" i="0" sz="2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2384" y="280085"/>
            <a:ext cx="1084840" cy="28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>
            <p:ph idx="10" type="dt"/>
          </p:nvPr>
        </p:nvSpPr>
        <p:spPr>
          <a:xfrm>
            <a:off x="8509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23/05/19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0" name="Google Shape;130;p17"/>
          <p:cNvSpPr txBox="1"/>
          <p:nvPr>
            <p:ph idx="12" type="sldNum"/>
          </p:nvPr>
        </p:nvSpPr>
        <p:spPr>
          <a:xfrm>
            <a:off x="86233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50900" y="873209"/>
            <a:ext cx="5910000" cy="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Agenda</a:t>
            </a:r>
            <a:endParaRPr b="0" i="0" sz="3733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850900" y="2010032"/>
            <a:ext cx="651600" cy="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 b="0" i="0" sz="1867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850891" y="2561369"/>
            <a:ext cx="651600" cy="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 b="0" i="0" sz="2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850891" y="3409848"/>
            <a:ext cx="651600" cy="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 b="0" i="0" sz="2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1342865" y="3420398"/>
            <a:ext cx="8575575" cy="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Representation &amp; WSD: Representing Meaning, Task 1 WSD</a:t>
            </a:r>
            <a:endParaRPr b="1" i="0" sz="2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1342866" y="2550819"/>
            <a:ext cx="9858533" cy="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Foundations of Meaning – Lexical Semantics, Ambiguity Problem, Lexical Relations</a:t>
            </a:r>
            <a:endParaRPr b="1" i="0" sz="2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1342867" y="2070200"/>
            <a:ext cx="9858532" cy="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Why Semantic Processing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50891" y="4012127"/>
            <a:ext cx="651600" cy="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 b="0" i="0" sz="2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1342864" y="3961185"/>
            <a:ext cx="8575575" cy="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NER &amp; IOB Tagging : Task 2 NER and IOB Labelling Scheme</a:t>
            </a:r>
            <a:endParaRPr b="1" i="0" sz="2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850891" y="4512522"/>
            <a:ext cx="651600" cy="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5.</a:t>
            </a:r>
            <a:endParaRPr b="0" i="0" sz="2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1342863" y="4512522"/>
            <a:ext cx="8575575" cy="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Models for NER (CRF): How NER Models work, Visualizing CRF Features</a:t>
            </a:r>
            <a:endParaRPr b="1" i="0" sz="2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833264" y="5363556"/>
            <a:ext cx="651600" cy="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6.</a:t>
            </a:r>
            <a:endParaRPr b="0" i="0" sz="2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1342862" y="5363556"/>
            <a:ext cx="8575575" cy="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SRL &amp; Conference: Task 3 Semantic Role Labelling &amp; Task 4 Coreference Resolution </a:t>
            </a:r>
            <a:endParaRPr b="1" i="0" sz="2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>
            <p:ph type="title"/>
          </p:nvPr>
        </p:nvSpPr>
        <p:spPr>
          <a:xfrm>
            <a:off x="422238" y="162622"/>
            <a:ext cx="8301883" cy="510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</a:pPr>
            <a:r>
              <a:rPr b="1" lang="en-US"/>
              <a:t>Key Reasons for Semantic Processing</a:t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0" y="890491"/>
            <a:ext cx="8001000" cy="483209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Deeper Understanding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Semantic processing helps us connect new information to what we already know.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integration builds comprehension rather than rote memorization.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Memory Retention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According to the </a:t>
            </a:r>
            <a:r>
              <a:rPr b="1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Levels of Processing Theory (Craik &amp; Lockhart, 1972)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 deeper (more semantic) the processing, the stronger and more durable the memory trace.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example, remembering a word by thinking about its meaning (“A cat is an animal that purrs”) is more effective than focusing on its sound or appearance (“cat rhymes with hat”).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 Retrieval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Meaning-based connections make it easier to recall information later because retrieval cues are linked conceptually.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instance, thinking of “fruit” can trigger “apple” or “banana,” showing how semantic networks support recall.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and Problem Solving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 meaning enables people to apply knowledge flexibly in new contexts — essential for reasoning, creativity, and critical thinking.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132" y="5384518"/>
            <a:ext cx="3012813" cy="1487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1884" y="890491"/>
            <a:ext cx="4270116" cy="2412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95945" y="4114417"/>
            <a:ext cx="4201111" cy="2743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>
            <p:ph type="title"/>
          </p:nvPr>
        </p:nvSpPr>
        <p:spPr>
          <a:xfrm>
            <a:off x="422239" y="162622"/>
            <a:ext cx="4981204" cy="510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</a:pPr>
            <a:r>
              <a:rPr b="1" lang="en-US"/>
              <a:t>Lexical Semantics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-1" y="831379"/>
            <a:ext cx="6176865" cy="20313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Lexical semantics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a subfield of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linguistics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semantics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that studies the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meaning of words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— how individual words convey meaning, how those meanings are structured in the mental lexicon (our mental “dictionary”), and how words relate to one another within a language.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simple terms: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Lexical semantics is the study of word meaning and word relationships.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focuses on understanding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words represent concepts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meaning changes across contexts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words connect within networks of related meanings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6176865" y="831379"/>
            <a:ext cx="6015135" cy="418576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Word-Level Meaning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Word-level meaning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refers to the meaning that is attached to individual words — that is, what a word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stands for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represents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the mind and in the world.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are two major aspects of word-level meaning: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Denotative Meaning (Literal meaning)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is the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core, dictionary definition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 word.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→ “a domesticated carnivorous mammal (Canis familiaris).”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Connotative Meaning (Associated meaning)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includes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emotional, cultural, or situational associations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that a word carries beyond its literal meaning.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→ literally “a place where one lives” (denotation), but connotes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warmth, comfort, safety,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family.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Sense and Reference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the mental concept or meaning of a word within the language system.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“The morning star” and “the evening star” have different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senses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but the same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reference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(both refer to Venus).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Reference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the actual entity or object in the real world that the word refers to.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11020" y="2892057"/>
            <a:ext cx="6139542" cy="375487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Word Relations in Lexical Semantics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Words are not isolated; they exist in networks of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semantic relations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These relations help us understand how words interact and differ in meaning.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Here are the main types: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Synonymy (Similarity in meaning)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Words with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similar or nearly identical meanings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↔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Large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↔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Purchase.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Antonymy (Opposition in meaning)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Words with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opposite meanings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Gradable antonyms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opposites on a scale (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hot ↔ cold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tall ↔ short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Complementary antonyms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mutually exclusive (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alive ↔ dead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Relational antonyms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opposite roles (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teacher ↔ student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buy ↔ sell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Hyponymy (Class–subclass relationship)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hierarchical relationship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where one word (the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hyponym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is a specific instance of another (the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hypernym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lily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tulip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→ hyponyms of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flower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(hypernym).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187885" y="5224667"/>
            <a:ext cx="6004115" cy="160043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Meronymy (Part–whole relationship)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word denotes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something else.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Wheel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a meronym of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a meronym of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tree.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 Polysemy (One word, multiple related meanings)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single word with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multiple, related senses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→ can mean the top of a body, a leader (“head of department”), or the front of something (“head of a table”).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 txBox="1"/>
          <p:nvPr/>
        </p:nvSpPr>
        <p:spPr>
          <a:xfrm>
            <a:off x="0" y="874624"/>
            <a:ext cx="6097554" cy="138499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f. Homonymy (One form, unrelated meanings)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Words that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sound or look the same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but have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unrelated meanings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Bank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(financial institution) vs.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Bank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(river edge).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g. Collocation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Words that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tend to occur together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naturally in language.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Strong tea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(not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powerful tea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),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make a decision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(not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 a decision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0" y="2458700"/>
            <a:ext cx="6139542" cy="160043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Importance of Lexical Semantics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Lexical semantics is crucial in many fields: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Language teaching and learning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helps understand word meaning and usage.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Lexicography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for creating dictionaries.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Natural Language Processing (NLP)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in AI and machine translation systems.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Cognitive linguistics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to study how humans conceptualize and categorize the world through language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type="title"/>
          </p:nvPr>
        </p:nvSpPr>
        <p:spPr>
          <a:xfrm>
            <a:off x="422239" y="162622"/>
            <a:ext cx="9496202" cy="510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</a:pPr>
            <a:r>
              <a:rPr b="1" lang="en-US"/>
              <a:t>Difference Between Polysemy &amp; Homonymy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6139542" y="807891"/>
            <a:ext cx="6097554" cy="569386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🪞 2. Homonymy – One Form, Unrelated Meanings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Definition: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Homonymy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occurs when two (or more) words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sound the same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 are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spelled the same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but have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entirely different and unrelated meanings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These words usually come from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different origins (etymologies)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Idea: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➡ One form –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(or more) unrelated words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Bank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Financial institution (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She deposited money in the bank.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side of a river (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boat reached the river bank.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👉 Meanings are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unrelated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— one is about finance, the other about geography.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flying mammal (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bat flew out of the cave.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wooden club used in sports (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 swung the baseball bat.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👉 No conceptual link — they just happen to share the same form.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Seal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sea animal (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saw a seal at the zoo.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stamp or emblem used for closing documents (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king’s seal on the letter.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👉 Unrelated meanings; one is an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animal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the other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symbol/tool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recline (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lie on the bed.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tell a falsehood (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 lied about his grades.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👉 Two totally separate verbs with different roots.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0" y="733246"/>
            <a:ext cx="6139542" cy="61247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🧩 1. Polysemy – One Word, Related Meanings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Definition: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Polysemy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occurs when a single word has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meanings that are conceptually related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 derived from a common origin.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These meanings often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share a core idea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semantic connection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Idea: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➡ One word –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 related senses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upper part of the body (body part)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person in charge (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 of department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front or top part of something (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 of a table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 of a queue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👉 All meanings relate to the idea of being at the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 in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leading position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Foot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lower part of the leg (body part)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base of a mountain (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foot of the hill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bottom of a page (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footnote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👉 All meanings share the idea of being at the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bottom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Material for writing (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sheet of paper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written article (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research paper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newspaper (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morning paper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👉 All are related to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writing or printed material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Mouth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opening in a face used for eating or speaking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opening of a river (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mouth of the Nile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👉 Both convey the idea of an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opening or entrance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type="title"/>
          </p:nvPr>
        </p:nvSpPr>
        <p:spPr>
          <a:xfrm>
            <a:off x="422239" y="162622"/>
            <a:ext cx="4981204" cy="510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</a:pPr>
            <a:r>
              <a:rPr b="1" lang="en-US"/>
              <a:t>Polysemy vs Homonymy</a:t>
            </a:r>
            <a:endParaRPr/>
          </a:p>
        </p:txBody>
      </p:sp>
      <p:graphicFrame>
        <p:nvGraphicFramePr>
          <p:cNvPr id="181" name="Google Shape;181;p22"/>
          <p:cNvGraphicFramePr/>
          <p:nvPr/>
        </p:nvGraphicFramePr>
        <p:xfrm>
          <a:off x="2553542" y="15390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{CC681ABE-C7CE-4E52-A519-F9F18DD80B4B}</a:tableStyleId>
              </a:tblPr>
              <a:tblGrid>
                <a:gridCol w="2081750"/>
                <a:gridCol w="2081750"/>
                <a:gridCol w="208175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Feature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Polysemy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Homonymy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Meaning Relationship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Meanings are </a:t>
                      </a:r>
                      <a:r>
                        <a:rPr b="1" lang="en-US" sz="1400" u="none" cap="none" strike="noStrike"/>
                        <a:t>related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Meanings are </a:t>
                      </a:r>
                      <a:r>
                        <a:rPr b="1" lang="en-US" sz="1400" u="none" cap="none" strike="noStrike"/>
                        <a:t>unrelated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Origin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Usually </a:t>
                      </a:r>
                      <a:r>
                        <a:rPr b="1" lang="en-US" sz="1400" u="none" cap="none" strike="noStrike"/>
                        <a:t>same origin (etymology)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Usually </a:t>
                      </a:r>
                      <a:r>
                        <a:rPr b="1" lang="en-US" sz="1400" u="none" cap="none" strike="noStrike"/>
                        <a:t>different origins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Example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/>
                        <a:t>Head</a:t>
                      </a:r>
                      <a:r>
                        <a:rPr lang="en-US" sz="1400" u="none" cap="none" strike="noStrike"/>
                        <a:t> → body part / leader / top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/>
                        <a:t>Bat</a:t>
                      </a:r>
                      <a:r>
                        <a:rPr lang="en-US" sz="1400" u="none" cap="none" strike="noStrike"/>
                        <a:t> → animal / sports equipment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Cognitive Connection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Meanings share a </a:t>
                      </a:r>
                      <a:r>
                        <a:rPr b="1" lang="en-US" sz="1400" u="none" cap="none" strike="noStrike"/>
                        <a:t>core </a:t>
                      </a: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concept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Meanings share </a:t>
                      </a:r>
                      <a:r>
                        <a:rPr b="1" lang="en-US" sz="1400" u="none" cap="none" strike="noStrike"/>
                        <a:t>form only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Dictionary Entry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Often under </a:t>
                      </a:r>
                      <a:r>
                        <a:rPr b="1" lang="en-US" sz="1400" u="none" cap="none" strike="noStrike"/>
                        <a:t>one entry</a:t>
                      </a:r>
                      <a:r>
                        <a:rPr lang="en-US" sz="1400" u="none" cap="none" strike="noStrike"/>
                        <a:t> with sub-senses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Often under </a:t>
                      </a:r>
                      <a:r>
                        <a:rPr b="1" lang="en-US" sz="1400" u="none" cap="none" strike="noStrike"/>
                        <a:t>separate entries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/>
          <p:nvPr>
            <p:ph type="title"/>
          </p:nvPr>
        </p:nvSpPr>
        <p:spPr>
          <a:xfrm>
            <a:off x="422239" y="162622"/>
            <a:ext cx="4981204" cy="510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</a:pPr>
            <a:r>
              <a:rPr b="1" lang="en-US"/>
              <a:t>WordNet Approach</a:t>
            </a:r>
            <a:endParaRPr/>
          </a:p>
        </p:txBody>
      </p:sp>
      <p:sp>
        <p:nvSpPr>
          <p:cNvPr id="187" name="Google Shape;187;p23"/>
          <p:cNvSpPr txBox="1"/>
          <p:nvPr/>
        </p:nvSpPr>
        <p:spPr>
          <a:xfrm>
            <a:off x="0" y="886968"/>
            <a:ext cx="6096000" cy="116955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 1. What is WordNet?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WordNet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a large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lexical database of English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developed at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Princeton University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(by George A. Miller and team).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organizes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English words into sets of synonyms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called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synsets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(short for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synonym sets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and connects them through a variety of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semantic relations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88" name="Google Shape;188;p23"/>
          <p:cNvSpPr txBox="1"/>
          <p:nvPr/>
        </p:nvSpPr>
        <p:spPr>
          <a:xfrm>
            <a:off x="0" y="2167335"/>
            <a:ext cx="6139542" cy="138499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🧩 Core Idea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WordNet models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meaning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just as individual words, but as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networks of related concepts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Instead of treating “word = meaning,” WordNet treats “word” as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surface form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“synset” as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conceptual meaning unit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synset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represents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specific sense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(or meaning) of a word.</a:t>
            </a:r>
            <a:endParaRPr/>
          </a:p>
        </p:txBody>
      </p:sp>
      <p:graphicFrame>
        <p:nvGraphicFramePr>
          <p:cNvPr id="189" name="Google Shape;189;p23"/>
          <p:cNvGraphicFramePr/>
          <p:nvPr/>
        </p:nvGraphicFramePr>
        <p:xfrm>
          <a:off x="6096000" y="384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{CC681ABE-C7CE-4E52-A519-F9F18DD80B4B}</a:tableStyleId>
              </a:tblPr>
              <a:tblGrid>
                <a:gridCol w="2032000"/>
                <a:gridCol w="2032000"/>
                <a:gridCol w="2032000"/>
              </a:tblGrid>
              <a:tr h="29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Word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Synset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Definition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0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car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{car, auto, automobile, machine, motorcar}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“A motor vehicle with four wheels; usually propelled by an internal combustion engine.”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1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bank (financial)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{bank, depository financial institution}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“A financial institution that accepts deposits and channels the money into lending activities.”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bank (river)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{bank, riverside}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“The slope beside a body of water.”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90" name="Google Shape;190;p23"/>
          <p:cNvSpPr txBox="1"/>
          <p:nvPr/>
        </p:nvSpPr>
        <p:spPr>
          <a:xfrm>
            <a:off x="6192384" y="834654"/>
            <a:ext cx="6052458" cy="95410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 in WordNet: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automobile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motorcar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belong to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same synset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(they share one meaning).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bank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has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synsets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(different meanings = polysemy).</a:t>
            </a:r>
            <a:endParaRPr/>
          </a:p>
        </p:txBody>
      </p:sp>
      <p:sp>
        <p:nvSpPr>
          <p:cNvPr id="191" name="Google Shape;191;p23"/>
          <p:cNvSpPr txBox="1"/>
          <p:nvPr/>
        </p:nvSpPr>
        <p:spPr>
          <a:xfrm>
            <a:off x="6192384" y="1788761"/>
            <a:ext cx="5946774" cy="20313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🧭 2. Structure of WordNet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WordNet is organized as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semantic network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where: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synsets (concepts/meanings)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semantic relations between synsets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 of speech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has its own sub-network: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Nouns: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objects, entities, people, etc.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Verbs: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actions, processes, states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Adjectives: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properties, qualities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Adverbs: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manner, time, degree</a:t>
            </a:r>
            <a:endParaRPr/>
          </a:p>
        </p:txBody>
      </p:sp>
      <p:sp>
        <p:nvSpPr>
          <p:cNvPr id="192" name="Google Shape;192;p23"/>
          <p:cNvSpPr txBox="1"/>
          <p:nvPr/>
        </p:nvSpPr>
        <p:spPr>
          <a:xfrm>
            <a:off x="-28008" y="3568702"/>
            <a:ext cx="6172200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├── Synonyms: automobile, auto, motorcar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├── Hypernym (is-a): motor vehicle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│       └── Hypernym: vehicle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│             └── Hypernym: conveyance, transport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├── Hyponyms (types of car):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│       ├── ambulance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│       ├── police car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│       ├── sports car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│       └── taxi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├── Meronyms (parts of car):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│       ├── wheel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│       ├── engine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│       └── door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└── Holonym (whole to which car belongs): fleet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/>
          <p:nvPr/>
        </p:nvSpPr>
        <p:spPr>
          <a:xfrm>
            <a:off x="0" y="845795"/>
            <a:ext cx="6097554" cy="160043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“You shall know a word by the company it keeps.” — J.R. Firth, 1957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is the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core idea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the distributional approach.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means: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meaning of a word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can be inferred from the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which it appears.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Words that occur in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similar contexts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are likely to have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similar meanings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So, we don’t need a dictionary (like WordNet) — instead, we learn meaning directly from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 data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98" name="Google Shape;198;p24"/>
          <p:cNvSpPr txBox="1"/>
          <p:nvPr/>
        </p:nvSpPr>
        <p:spPr>
          <a:xfrm>
            <a:off x="0" y="2519380"/>
            <a:ext cx="6139542" cy="246221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1: Intuitive Example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Let’s look at these sentences: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I drove my car to the office.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She bought a new automobile yesterday.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The bus stopped near the station.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 look closely: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words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automobile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appear with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drive, stop, station, buy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etc.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So, statistically, they often occur in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similar contexts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➡️ That’s the key: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two words have similar neighboring words, they probably have similar meanings.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0" y="5054740"/>
            <a:ext cx="6139542" cy="7386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2: Turn Words into Numbers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represent words as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vectors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— basically, lists of numbers — based on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often they co-occur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with other words.</a:t>
            </a:r>
            <a:endParaRPr/>
          </a:p>
        </p:txBody>
      </p:sp>
      <p:graphicFrame>
        <p:nvGraphicFramePr>
          <p:cNvPr id="200" name="Google Shape;200;p24"/>
          <p:cNvGraphicFramePr/>
          <p:nvPr/>
        </p:nvGraphicFramePr>
        <p:xfrm>
          <a:off x="6293497" y="9309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{CC681ABE-C7CE-4E52-A519-F9F18DD80B4B}</a:tableStyleId>
              </a:tblPr>
              <a:tblGrid>
                <a:gridCol w="940050"/>
                <a:gridCol w="940050"/>
                <a:gridCol w="940050"/>
                <a:gridCol w="940050"/>
                <a:gridCol w="940050"/>
                <a:gridCol w="94005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Word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drive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road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wheel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river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money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car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bus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bank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01" name="Google Shape;201;p24"/>
          <p:cNvSpPr txBox="1"/>
          <p:nvPr/>
        </p:nvSpPr>
        <p:spPr>
          <a:xfrm>
            <a:off x="195943" y="126317"/>
            <a:ext cx="609755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Distributional Approach</a:t>
            </a:r>
            <a:endParaRPr/>
          </a:p>
        </p:txBody>
      </p:sp>
      <p:sp>
        <p:nvSpPr>
          <p:cNvPr id="202" name="Google Shape;202;p24"/>
          <p:cNvSpPr txBox="1"/>
          <p:nvPr/>
        </p:nvSpPr>
        <p:spPr>
          <a:xfrm>
            <a:off x="0" y="5793404"/>
            <a:ext cx="6139542" cy="73866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Notice: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have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similar patterns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so they’re semantically related.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bank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totally different — it means something else.</a:t>
            </a:r>
            <a:endParaRPr/>
          </a:p>
        </p:txBody>
      </p:sp>
      <p:sp>
        <p:nvSpPr>
          <p:cNvPr id="203" name="Google Shape;203;p24"/>
          <p:cNvSpPr txBox="1"/>
          <p:nvPr/>
        </p:nvSpPr>
        <p:spPr>
          <a:xfrm>
            <a:off x="6293497" y="2275305"/>
            <a:ext cx="5640354" cy="159043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04" name="Google Shape;204;p24"/>
          <p:cNvSpPr txBox="1"/>
          <p:nvPr/>
        </p:nvSpPr>
        <p:spPr>
          <a:xfrm>
            <a:off x="6293497" y="3990873"/>
            <a:ext cx="5640354" cy="95410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co-occurrence matrix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(also called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word–context matrix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shows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often words occur together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within a given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 window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(like a sentence or a few neighboring words).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captures the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distributional context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each word.</a:t>
            </a:r>
            <a:endParaRPr/>
          </a:p>
        </p:txBody>
      </p:sp>
      <p:pic>
        <p:nvPicPr>
          <p:cNvPr id="205" name="Google Shape;20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3497" y="5054740"/>
            <a:ext cx="5887272" cy="1648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type="title"/>
          </p:nvPr>
        </p:nvSpPr>
        <p:spPr>
          <a:xfrm>
            <a:off x="422239" y="162622"/>
            <a:ext cx="4981204" cy="510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</a:pPr>
            <a:r>
              <a:rPr b="1" lang="en-US"/>
              <a:t>Distributional Approach</a:t>
            </a:r>
            <a:endParaRPr/>
          </a:p>
        </p:txBody>
      </p:sp>
      <p:pic>
        <p:nvPicPr>
          <p:cNvPr id="211" name="Google Shape;2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93" y="944033"/>
            <a:ext cx="5372850" cy="3419952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5"/>
          <p:cNvSpPr txBox="1"/>
          <p:nvPr/>
        </p:nvSpPr>
        <p:spPr>
          <a:xfrm>
            <a:off x="0" y="4490264"/>
            <a:ext cx="5372850" cy="5232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car is fast.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automobile is quick.</a:t>
            </a:r>
            <a:endParaRPr/>
          </a:p>
        </p:txBody>
      </p:sp>
      <p:sp>
        <p:nvSpPr>
          <p:cNvPr id="213" name="Google Shape;213;p25"/>
          <p:cNvSpPr txBox="1"/>
          <p:nvPr/>
        </p:nvSpPr>
        <p:spPr>
          <a:xfrm>
            <a:off x="30593" y="5139763"/>
            <a:ext cx="5342257" cy="73866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aphicFrame>
        <p:nvGraphicFramePr>
          <p:cNvPr id="214" name="Google Shape;214;p25"/>
          <p:cNvGraphicFramePr/>
          <p:nvPr/>
        </p:nvGraphicFramePr>
        <p:xfrm>
          <a:off x="5613984" y="86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{CC681ABE-C7CE-4E52-A519-F9F18DD80B4B}</a:tableStyleId>
              </a:tblPr>
              <a:tblGrid>
                <a:gridCol w="1076075"/>
                <a:gridCol w="708275"/>
                <a:gridCol w="892175"/>
                <a:gridCol w="892175"/>
                <a:gridCol w="892175"/>
                <a:gridCol w="1084550"/>
                <a:gridCol w="6998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Target (row)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the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car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fast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automobile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quick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the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car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fast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automobile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quick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5" name="Google Shape;215;p25"/>
          <p:cNvGraphicFramePr/>
          <p:nvPr/>
        </p:nvGraphicFramePr>
        <p:xfrm>
          <a:off x="5403443" y="32909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{CC681ABE-C7CE-4E52-A519-F9F18DD80B4B}</a:tableStyleId>
              </a:tblPr>
              <a:tblGrid>
                <a:gridCol w="2252650"/>
                <a:gridCol w="2252650"/>
                <a:gridCol w="2252650"/>
              </a:tblGrid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Aspect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WordNet (Network-based)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Distributional (VSM-based)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Nature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Symbolic / Knowledge-based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Statistical / Data-driven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58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Representation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Words are nodes in a </a:t>
                      </a:r>
                      <a:r>
                        <a:rPr i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semantic network</a:t>
                      </a: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connected by labeled relations (synonym, hypernym, etc.)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Words are </a:t>
                      </a:r>
                      <a:r>
                        <a:rPr i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vectors</a:t>
                      </a: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 a </a:t>
                      </a:r>
                      <a:r>
                        <a:rPr i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high-dimensional space</a:t>
                      </a: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learned from text co-occurrence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 Source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Handcrafted by linguists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Learned automatically from large corpora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58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Philosophy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 = relationships between concepts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 = usage patterns in context (“you shall know a word by the company it keeps”)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title"/>
          </p:nvPr>
        </p:nvSpPr>
        <p:spPr>
          <a:xfrm>
            <a:off x="422239" y="162622"/>
            <a:ext cx="4981204" cy="510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</a:pPr>
            <a:r>
              <a:rPr b="1" lang="en-US"/>
              <a:t>WSD</a:t>
            </a:r>
            <a:endParaRPr/>
          </a:p>
        </p:txBody>
      </p:sp>
      <p:sp>
        <p:nvSpPr>
          <p:cNvPr id="221" name="Google Shape;221;p26"/>
          <p:cNvSpPr txBox="1"/>
          <p:nvPr/>
        </p:nvSpPr>
        <p:spPr>
          <a:xfrm>
            <a:off x="0" y="886969"/>
            <a:ext cx="6096000" cy="13849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 1. What is Word Sense Disambiguation (WSD)?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Definition: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Word Sense Disambiguation (WSD) is the process of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identifying which sense (meaning)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 word is used in a given context.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English,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 words are ambiguous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— they have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meanings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(polysemy).</a:t>
            </a:r>
            <a:endParaRPr/>
          </a:p>
        </p:txBody>
      </p:sp>
      <p:sp>
        <p:nvSpPr>
          <p:cNvPr id="222" name="Google Shape;222;p26"/>
          <p:cNvSpPr txBox="1"/>
          <p:nvPr/>
        </p:nvSpPr>
        <p:spPr>
          <a:xfrm>
            <a:off x="-10884" y="2402279"/>
            <a:ext cx="6106884" cy="5232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🧩 2. Why does this problem occur?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words often have </a:t>
            </a: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senses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e.g.:</a:t>
            </a:r>
            <a:endParaRPr/>
          </a:p>
        </p:txBody>
      </p:sp>
      <p:graphicFrame>
        <p:nvGraphicFramePr>
          <p:cNvPr id="223" name="Google Shape;223;p26"/>
          <p:cNvGraphicFramePr/>
          <p:nvPr/>
        </p:nvGraphicFramePr>
        <p:xfrm>
          <a:off x="0" y="30558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{CC681ABE-C7CE-4E52-A519-F9F18DD80B4B}</a:tableStyleId>
              </a:tblPr>
              <a:tblGrid>
                <a:gridCol w="2035625"/>
                <a:gridCol w="2035625"/>
                <a:gridCol w="2035625"/>
              </a:tblGrid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Word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Possible Meanings (Senses)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Example Sentence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bank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1️⃣ Financial institution 2️⃣ River side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“He sat by the bank.” → which one?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bat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1️⃣ Animal 2️⃣ Sports equipment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“He swung the bat.”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pen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1️⃣ Writing tool 2️⃣ Animal enclosure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“The farmer built a pen.”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4" name="Google Shape;224;p26"/>
          <p:cNvSpPr txBox="1"/>
          <p:nvPr/>
        </p:nvSpPr>
        <p:spPr>
          <a:xfrm>
            <a:off x="-48208" y="5128454"/>
            <a:ext cx="614420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word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 mean </a:t>
            </a: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different things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depending on its context.</a:t>
            </a:r>
            <a:endParaRPr/>
          </a:p>
        </p:txBody>
      </p:sp>
      <p:sp>
        <p:nvSpPr>
          <p:cNvPr id="225" name="Google Shape;225;p26"/>
          <p:cNvSpPr txBox="1"/>
          <p:nvPr/>
        </p:nvSpPr>
        <p:spPr>
          <a:xfrm>
            <a:off x="6155092" y="886969"/>
            <a:ext cx="6036908" cy="246221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 3. The Goal of WSD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determine the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correct meaning (sense)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an ambiguous word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based on its surrounding words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(context).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 4. Lesk Algorithm — The Idea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Lesk algorithm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(Michael Lesk, 1986) is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dictionary-based approach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WSD.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uses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WordNet glosses (definitions)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find which sense best matches the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🔹 Basic Idea: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correct sense of a word is the one whose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definition shares the most words in common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with the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the sentence.</a:t>
            </a:r>
            <a:endParaRPr/>
          </a:p>
        </p:txBody>
      </p:sp>
      <p:sp>
        <p:nvSpPr>
          <p:cNvPr id="226" name="Google Shape;226;p26"/>
          <p:cNvSpPr txBox="1"/>
          <p:nvPr/>
        </p:nvSpPr>
        <p:spPr>
          <a:xfrm>
            <a:off x="6155092" y="3358739"/>
            <a:ext cx="6047792" cy="353943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🪄 5. Step-by-Step Example: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Let’s disambiguate the word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“bank”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the sentence: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“He sat on the bank of the river.”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1️⃣: Identify the ambiguous word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 “bank”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2️⃣: Retrieve all senses from WordNet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bank (n1):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financial institution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“a financial institution that accepts deposits and channels the money into lending activities.”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bank (n2):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river edge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“sloping land beside a body of water.”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3️⃣: Take context words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Context: “He”, “sat”, “on”, “river”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4️⃣: Compare overlap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check how many words from each definition (and example sentences)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overlap with the context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7" name="Google Shape;227;p26"/>
          <p:cNvGraphicFramePr/>
          <p:nvPr/>
        </p:nvGraphicFramePr>
        <p:xfrm>
          <a:off x="0" y="54498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{CC681ABE-C7CE-4E52-A519-F9F18DD80B4B}</a:tableStyleId>
              </a:tblPr>
              <a:tblGrid>
                <a:gridCol w="2081750"/>
                <a:gridCol w="2081750"/>
                <a:gridCol w="2081750"/>
              </a:tblGrid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Sense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Definition (simplified)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Overlapping words with “He sat on the river”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Financial Institution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money, deposits, lending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❌ None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River Edge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sloping land, body, water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✅ “river”, “water” (related words)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 txBox="1"/>
          <p:nvPr>
            <p:ph type="title"/>
          </p:nvPr>
        </p:nvSpPr>
        <p:spPr>
          <a:xfrm>
            <a:off x="422239" y="162622"/>
            <a:ext cx="4981204" cy="510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</a:pPr>
            <a:r>
              <a:rPr b="1" lang="en-US"/>
              <a:t>NER</a:t>
            </a:r>
            <a:endParaRPr/>
          </a:p>
        </p:txBody>
      </p:sp>
      <p:sp>
        <p:nvSpPr>
          <p:cNvPr id="233" name="Google Shape;233;p27"/>
          <p:cNvSpPr txBox="1"/>
          <p:nvPr/>
        </p:nvSpPr>
        <p:spPr>
          <a:xfrm>
            <a:off x="-1554" y="864455"/>
            <a:ext cx="6097554" cy="20313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🧩 1. What is Named Entity Recognition (NER)?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Named Entity Recognition (NER)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an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NLP task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that automatically identifies and classifies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real-world entities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mentioned in text into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predefined categories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such as: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→ Person names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🏢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→ Organizations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🌍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→ Locations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MISC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→ Miscellaneous (like dates, times, nationalities, events, products, etc.)</a:t>
            </a:r>
            <a:endParaRPr/>
          </a:p>
        </p:txBody>
      </p:sp>
      <p:sp>
        <p:nvSpPr>
          <p:cNvPr id="234" name="Google Shape;234;p27"/>
          <p:cNvSpPr txBox="1"/>
          <p:nvPr/>
        </p:nvSpPr>
        <p:spPr>
          <a:xfrm>
            <a:off x="0" y="2980777"/>
            <a:ext cx="6139542" cy="5232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the process of detecting and labeling words or phrases that refer to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specific entities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text.</a:t>
            </a:r>
            <a:endParaRPr/>
          </a:p>
        </p:txBody>
      </p:sp>
      <p:sp>
        <p:nvSpPr>
          <p:cNvPr id="235" name="Google Shape;235;p27"/>
          <p:cNvSpPr txBox="1"/>
          <p:nvPr/>
        </p:nvSpPr>
        <p:spPr>
          <a:xfrm>
            <a:off x="0" y="3588994"/>
            <a:ext cx="6139542" cy="95410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 2. Example of NER in Action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text: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"Barack Obama visited Microsoft headquarters in Seattle on Monday."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NER output: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6" name="Google Shape;236;p27"/>
          <p:cNvGraphicFramePr/>
          <p:nvPr/>
        </p:nvGraphicFramePr>
        <p:xfrm>
          <a:off x="183567" y="46280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{CC681ABE-C7CE-4E52-A519-F9F18DD80B4B}</a:tableStyleId>
              </a:tblPr>
              <a:tblGrid>
                <a:gridCol w="2956225"/>
                <a:gridCol w="295622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Entity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Type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Barack Obama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PER (Person)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Microsoft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ORG (Organization)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Seattle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LOC (Location)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Monday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MISC (Date/Time)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7" name="Google Shape;237;p27"/>
          <p:cNvSpPr txBox="1"/>
          <p:nvPr/>
        </p:nvSpPr>
        <p:spPr>
          <a:xfrm>
            <a:off x="0" y="6159949"/>
            <a:ext cx="6139542" cy="5232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785" algn="ctr" dir="3180000" dist="33020">
              <a:srgbClr val="000000">
                <a:alpha val="29803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systems also include finer-grained tags like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etc. depending on the corpus or NER model (e.g., spaCy, BERT-NER, CoNLL).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7"/>
          <p:cNvSpPr txBox="1"/>
          <p:nvPr/>
        </p:nvSpPr>
        <p:spPr>
          <a:xfrm>
            <a:off x="6139542" y="864455"/>
            <a:ext cx="6139542" cy="37548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Why is NER Required? (Importance)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NER is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crucial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because it extracts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structured knowledge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from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unstructured text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— a key step in many NLP applications.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🔹 1. Information Extraction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Identify “who did what where” from large documents.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Extract company names and locations from news reports.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🔹 2. Search and Recommendation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Improve search accuracy by detecting entity-based queries.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“Hotels near Eiffel Tower” → Eiffel Tower recognized as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🔹 3. Knowledge Graph Construction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NER helps build relationships between entities.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“Steve Jobs founded Apple” → connects PER–ORG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🔹 4. Question Answering (QA)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NER helps detect entities the question refers to.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“Who is the CEO of Google?” → detects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Google (ORG)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🔹 5. Summarization and Analytics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Extract key entities from reports, research papers, or social media posts.</a:t>
            </a:r>
            <a:endParaRPr/>
          </a:p>
        </p:txBody>
      </p:sp>
      <p:sp>
        <p:nvSpPr>
          <p:cNvPr id="239" name="Google Shape;239;p27"/>
          <p:cNvSpPr txBox="1"/>
          <p:nvPr/>
        </p:nvSpPr>
        <p:spPr>
          <a:xfrm>
            <a:off x="6113883" y="4643791"/>
            <a:ext cx="6190860" cy="95410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 5. How NER Works (Conceptually)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NER typically involves two sub-tasks: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Detection: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Locate entity boundaries (e.g., "New York" → two tokens, one entity)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Classification: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Assign the correct label (LOC, PER, ORG, etc.)	./,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"/>
          <p:cNvSpPr txBox="1"/>
          <p:nvPr>
            <p:ph type="title"/>
          </p:nvPr>
        </p:nvSpPr>
        <p:spPr>
          <a:xfrm>
            <a:off x="422239" y="162622"/>
            <a:ext cx="4981204" cy="510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</a:pPr>
            <a:r>
              <a:rPr b="1" lang="en-US"/>
              <a:t>NER</a:t>
            </a:r>
            <a:endParaRPr/>
          </a:p>
        </p:txBody>
      </p:sp>
      <p:graphicFrame>
        <p:nvGraphicFramePr>
          <p:cNvPr id="245" name="Google Shape;245;p28"/>
          <p:cNvGraphicFramePr/>
          <p:nvPr/>
        </p:nvGraphicFramePr>
        <p:xfrm>
          <a:off x="0" y="867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{CC681ABE-C7CE-4E52-A519-F9F18DD80B4B}</a:tableStyleId>
              </a:tblPr>
              <a:tblGrid>
                <a:gridCol w="1859825"/>
                <a:gridCol w="2659225"/>
                <a:gridCol w="1726175"/>
              </a:tblGrid>
              <a:tr h="20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Approach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Rule-based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Uses dictionaries &amp; regular expressions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"Mr." followed by capitalized word → PER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Statistical (ML-based)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Learns patterns using annotated data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Hidden Markov Models, CRFs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Neural (Deep Learning)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Contextual embeddings to identify entities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BERT, spaCy, LSTM-CRF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>
            <p:ph type="title"/>
          </p:nvPr>
        </p:nvSpPr>
        <p:spPr>
          <a:xfrm>
            <a:off x="422239" y="162622"/>
            <a:ext cx="4981204" cy="510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</a:pPr>
            <a:r>
              <a:rPr b="1" lang="en-US"/>
              <a:t>IOB Labelling</a:t>
            </a:r>
            <a:endParaRPr/>
          </a:p>
        </p:txBody>
      </p:sp>
      <p:sp>
        <p:nvSpPr>
          <p:cNvPr id="251" name="Google Shape;251;p29"/>
          <p:cNvSpPr txBox="1"/>
          <p:nvPr/>
        </p:nvSpPr>
        <p:spPr>
          <a:xfrm>
            <a:off x="0" y="849646"/>
            <a:ext cx="6096000" cy="116955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🧩 1. What Is IOB Labeling?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IOB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stands for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Inside–Outside–Beginning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it’s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token-level annotation scheme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used in NLP to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mark the boundaries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entities (like people, places, organizations, etc.) inside a sentence.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It’s also called the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BIO scheme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(they’re the same thing).</a:t>
            </a:r>
            <a:endParaRPr/>
          </a:p>
        </p:txBody>
      </p:sp>
      <p:sp>
        <p:nvSpPr>
          <p:cNvPr id="252" name="Google Shape;252;p29"/>
          <p:cNvSpPr txBox="1"/>
          <p:nvPr/>
        </p:nvSpPr>
        <p:spPr>
          <a:xfrm>
            <a:off x="0" y="2119842"/>
            <a:ext cx="6139542" cy="181588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 Think of it this way: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an NER model reads a sentence, it doesn’t “see” named entities as chunks — it sees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tokens (words)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 we must label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token individually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indicate: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it starts an entity,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continues one,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isn’t part of any entity.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That’s exactly what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IOB tagging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does.</a:t>
            </a:r>
            <a:endParaRPr/>
          </a:p>
        </p:txBody>
      </p:sp>
      <p:graphicFrame>
        <p:nvGraphicFramePr>
          <p:cNvPr id="253" name="Google Shape;253;p29"/>
          <p:cNvGraphicFramePr/>
          <p:nvPr/>
        </p:nvGraphicFramePr>
        <p:xfrm>
          <a:off x="0" y="3974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{CC681ABE-C7CE-4E52-A519-F9F18DD80B4B}</a:tableStyleId>
              </a:tblPr>
              <a:tblGrid>
                <a:gridCol w="2081750"/>
                <a:gridCol w="2081750"/>
                <a:gridCol w="208175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Label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Meaning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Example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B-XXX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Beginning</a:t>
                      </a:r>
                      <a:r>
                        <a:rPr lang="en-US" sz="1400" u="none" cap="none" strike="noStrike"/>
                        <a:t> of an entity of type XXX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B-PER (Barack)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I-XXX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Inside</a:t>
                      </a:r>
                      <a:r>
                        <a:rPr lang="en-US" sz="1400" u="none" cap="none" strike="noStrike"/>
                        <a:t> (continuation) of the same entity type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I-PER (Obama)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Outside</a:t>
                      </a:r>
                      <a:r>
                        <a:rPr lang="en-US" sz="1400" u="none" cap="none" strike="noStrike"/>
                        <a:t> of any entity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 (visited, in, the)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4" name="Google Shape;254;p29"/>
          <p:cNvSpPr txBox="1"/>
          <p:nvPr/>
        </p:nvSpPr>
        <p:spPr>
          <a:xfrm>
            <a:off x="6139542" y="849646"/>
            <a:ext cx="6052458" cy="267765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📘 2. Why Do We Need IOB Tagging?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are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main reasons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🔹 (A) To Represent Multi-word Entities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Entities often span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words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“New York City” → one entity (Location)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a model processes tokens one by one: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[“New”, “York”, “City”]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Without boundary markers, the model can’t tell that these words together make up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single entity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 IOB solves that:</a:t>
            </a:r>
            <a:endParaRPr/>
          </a:p>
        </p:txBody>
      </p:sp>
      <p:graphicFrame>
        <p:nvGraphicFramePr>
          <p:cNvPr id="255" name="Google Shape;255;p29"/>
          <p:cNvGraphicFramePr/>
          <p:nvPr/>
        </p:nvGraphicFramePr>
        <p:xfrm>
          <a:off x="0" y="563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{CC681ABE-C7CE-4E52-A519-F9F18DD80B4B}</a:tableStyleId>
              </a:tblPr>
              <a:tblGrid>
                <a:gridCol w="3122600"/>
                <a:gridCol w="20496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Token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Tag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New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B-LOC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York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I-LOC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City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I-LOC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6" name="Google Shape;256;p29"/>
          <p:cNvSpPr txBox="1"/>
          <p:nvPr/>
        </p:nvSpPr>
        <p:spPr>
          <a:xfrm>
            <a:off x="6005804" y="4600417"/>
            <a:ext cx="6186196" cy="20313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🔹 (B) For Model Training and Evaluation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Machine learning models (like CRFs, LSTMs, BERT) need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token-level supervision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during training.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IOB provides: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Granular supervision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(word-by-word)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Clear transitions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(e.g., B → I → O)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Consistency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(same across datasets like CoNLL)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allows the model to learn: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“Whenever I see a capitalized word after ‘Mr.’ → B-PER”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 txBox="1"/>
          <p:nvPr/>
        </p:nvSpPr>
        <p:spPr>
          <a:xfrm>
            <a:off x="0" y="873481"/>
            <a:ext cx="6097554" cy="246221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🔹 (C) To Reconstruct Entities Later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After prediction, we can easily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rebuild full entities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from IOB tags.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Barack/B-PER  Obama/I-PER  visited/O  Microsoft/B-ORG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 Model output can be reconstructed into: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PERSON: “Barack Obama”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ORG: “Microsoft”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 IOB acts as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bridge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between: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token-level prediction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phrase-level (entity-level) understanding.</a:t>
            </a:r>
            <a:endParaRPr/>
          </a:p>
        </p:txBody>
      </p:sp>
      <p:sp>
        <p:nvSpPr>
          <p:cNvPr id="262" name="Google Shape;262;p30"/>
          <p:cNvSpPr txBox="1"/>
          <p:nvPr/>
        </p:nvSpPr>
        <p:spPr>
          <a:xfrm>
            <a:off x="0" y="3429000"/>
            <a:ext cx="6139542" cy="246221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🧮 3. IOB Tagging Rules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B-XXX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 Used at the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an entity, or when a new entity of the same type begins immediately after another.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I-XXX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 Used for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tokens inside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same entity.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 Used for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non-entity tokens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(outside).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Consistency Rule: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an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I-XXX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appears without a preceding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B-XXX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it is typically treated as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B-XXX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(start of a new entity).</a:t>
            </a:r>
            <a:endParaRPr/>
          </a:p>
        </p:txBody>
      </p:sp>
      <p:sp>
        <p:nvSpPr>
          <p:cNvPr id="263" name="Google Shape;263;p30"/>
          <p:cNvSpPr txBox="1"/>
          <p:nvPr/>
        </p:nvSpPr>
        <p:spPr>
          <a:xfrm>
            <a:off x="0" y="5984519"/>
            <a:ext cx="4805265" cy="5232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Sentence: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“Barack Obama visited Microsoft headquarters in Seattle.”</a:t>
            </a:r>
            <a:endParaRPr/>
          </a:p>
        </p:txBody>
      </p:sp>
      <p:graphicFrame>
        <p:nvGraphicFramePr>
          <p:cNvPr id="264" name="Google Shape;264;p30"/>
          <p:cNvGraphicFramePr/>
          <p:nvPr/>
        </p:nvGraphicFramePr>
        <p:xfrm>
          <a:off x="6096000" y="8734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{CC681ABE-C7CE-4E52-A519-F9F18DD80B4B}</a:tableStyleId>
              </a:tblPr>
              <a:tblGrid>
                <a:gridCol w="2032000"/>
                <a:gridCol w="2032000"/>
                <a:gridCol w="20320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Token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Tag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Explanation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Barack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B-PER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Beginning of person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Obama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I-PER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Inside same person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visited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Not entity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Microsoft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B-ORG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Beginning of organization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headquarters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I-ORG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Inside organization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Outside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Seattle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B-LOC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Beginning of location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Outside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5" name="Google Shape;265;p30"/>
          <p:cNvSpPr txBox="1"/>
          <p:nvPr/>
        </p:nvSpPr>
        <p:spPr>
          <a:xfrm>
            <a:off x="6214188" y="5257562"/>
            <a:ext cx="5977812" cy="16004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 How IOB Works Internally (Machine View)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training: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a sentence is input to the model.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model predicts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(B, I, or O) for each word.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tags are then combined to extract entity spans.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structured tagging approach makes it easier for the model to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capture context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entity boundaries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effectively.</a:t>
            </a:r>
            <a:endParaRPr/>
          </a:p>
        </p:txBody>
      </p:sp>
      <p:sp>
        <p:nvSpPr>
          <p:cNvPr id="266" name="Google Shape;266;p30"/>
          <p:cNvSpPr txBox="1"/>
          <p:nvPr>
            <p:ph type="title"/>
          </p:nvPr>
        </p:nvSpPr>
        <p:spPr>
          <a:xfrm>
            <a:off x="319603" y="0"/>
            <a:ext cx="4981204" cy="510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</a:pPr>
            <a:br>
              <a:rPr b="1" lang="en-US"/>
            </a:br>
            <a:r>
              <a:rPr b="1" lang="en-US"/>
              <a:t>IOB Labelling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1"/>
          <p:cNvSpPr txBox="1"/>
          <p:nvPr>
            <p:ph type="title"/>
          </p:nvPr>
        </p:nvSpPr>
        <p:spPr>
          <a:xfrm>
            <a:off x="422239" y="162622"/>
            <a:ext cx="4981204" cy="510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</a:pPr>
            <a:r>
              <a:rPr lang="en-US"/>
              <a:t>CRF</a:t>
            </a:r>
            <a:endParaRPr/>
          </a:p>
        </p:txBody>
      </p:sp>
      <p:sp>
        <p:nvSpPr>
          <p:cNvPr id="272" name="Google Shape;272;p31"/>
          <p:cNvSpPr txBox="1"/>
          <p:nvPr/>
        </p:nvSpPr>
        <p:spPr>
          <a:xfrm>
            <a:off x="0" y="852213"/>
            <a:ext cx="6096000" cy="246221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Sequence Labelling?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NER is not a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single-token classification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problem — it’s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sequence labelling problem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word’s label depends not just on itself, but also on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its context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(neighboring words and tags).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word “Apple” in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“Apple released a new iPhone”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→ Organization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“Apple” in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“She ate an apple”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→ Common noun (not an entity)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So, the model must look at the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sequence of words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— not just individual tokens — to decide correctly.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That’s where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Conditional Random Fields (CRFs)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shine.</a:t>
            </a:r>
            <a:endParaRPr/>
          </a:p>
        </p:txBody>
      </p:sp>
      <p:sp>
        <p:nvSpPr>
          <p:cNvPr id="273" name="Google Shape;273;p31"/>
          <p:cNvSpPr txBox="1"/>
          <p:nvPr/>
        </p:nvSpPr>
        <p:spPr>
          <a:xfrm>
            <a:off x="-21771" y="3429000"/>
            <a:ext cx="6139542" cy="20313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Are Conditional Random Fields (CRFs)?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Conditional Random Field (CRF)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probabilistic model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used to predict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sequences of labels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sequences of inputs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simpler terms: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CRF predicts the best sequence of tags (like IOB tags) for a sentence, based on both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features of words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dependencies between tags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 instead of predicting each token’s label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independently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CRF models the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entire sequence together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— ensuring that the predicted tags are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consistent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contextually valid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74" name="Google Shape;274;p31"/>
          <p:cNvSpPr txBox="1"/>
          <p:nvPr/>
        </p:nvSpPr>
        <p:spPr>
          <a:xfrm>
            <a:off x="6563954" y="898379"/>
            <a:ext cx="5628046" cy="397031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Intuitive Example — Why We Need CRF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Imagine a sentence: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“Barack Obama visited Paris.”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 used a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 classifier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(like logistic regression) per word: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“Barack” → might get PER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“Obama” → might also get PER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“visited” → O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“Paris” → could get PER or LOC (confusing!)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token’s prediction is independent, so the model might output: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Barack (B-PER), Obama (I-PER), visited (O), Paris (B-PER)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That’s okay… but what if it outputs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I-PER without a preceding B-PER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consecutive B-tags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that make no sense?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CRFs fix this by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learning dependencies between labels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“If the previous tag is B-PER, the next likely tag is I-PER.”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“If the previous tag is O, a B-tag may start.”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Thus, CRFs enforce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global consistency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across the sequence.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2"/>
          <p:cNvSpPr txBox="1"/>
          <p:nvPr>
            <p:ph type="title"/>
          </p:nvPr>
        </p:nvSpPr>
        <p:spPr>
          <a:xfrm>
            <a:off x="412908" y="153292"/>
            <a:ext cx="4981204" cy="510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</a:pPr>
            <a:r>
              <a:rPr lang="en-US"/>
              <a:t>How CRF works</a:t>
            </a:r>
            <a:endParaRPr/>
          </a:p>
        </p:txBody>
      </p:sp>
      <p:sp>
        <p:nvSpPr>
          <p:cNvPr id="280" name="Google Shape;280;p32"/>
          <p:cNvSpPr txBox="1"/>
          <p:nvPr/>
        </p:nvSpPr>
        <p:spPr>
          <a:xfrm>
            <a:off x="0" y="853490"/>
            <a:ext cx="6096000" cy="18811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81" name="Google Shape;281;p32"/>
          <p:cNvSpPr txBox="1"/>
          <p:nvPr/>
        </p:nvSpPr>
        <p:spPr>
          <a:xfrm>
            <a:off x="0" y="2844224"/>
            <a:ext cx="6139542" cy="116955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 2. What Is a CRF Doing Conceptually?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CRF looks at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possible label sequences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a sentence.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assigns each possible sequence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(based on features).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 it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normalizes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those scores into probabilities.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Finally, it picks the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highest-probability label sequence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id="282" name="Google Shape;28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249184"/>
            <a:ext cx="5982535" cy="1905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288" y="853490"/>
            <a:ext cx="5953712" cy="331729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2"/>
          <p:cNvSpPr txBox="1"/>
          <p:nvPr/>
        </p:nvSpPr>
        <p:spPr>
          <a:xfrm>
            <a:off x="6052458" y="4553192"/>
            <a:ext cx="6139542" cy="208101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/>
          <p:nvPr>
            <p:ph type="title"/>
          </p:nvPr>
        </p:nvSpPr>
        <p:spPr>
          <a:xfrm>
            <a:off x="422239" y="162622"/>
            <a:ext cx="4981204" cy="510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</a:pPr>
            <a:r>
              <a:rPr lang="en-US"/>
              <a:t>How CRF works</a:t>
            </a:r>
            <a:endParaRPr/>
          </a:p>
        </p:txBody>
      </p:sp>
      <p:sp>
        <p:nvSpPr>
          <p:cNvPr id="290" name="Google Shape;290;p33"/>
          <p:cNvSpPr txBox="1"/>
          <p:nvPr/>
        </p:nvSpPr>
        <p:spPr>
          <a:xfrm>
            <a:off x="0" y="732393"/>
            <a:ext cx="6096000" cy="138499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Sentence: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“Barack Obama visited Paris”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tokens: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= [Barack, Obama, visited, Paris]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Labels (Y):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 = [B-PER, I-PER, O, B-LOC]</a:t>
            </a:r>
            <a:endParaRPr/>
          </a:p>
        </p:txBody>
      </p:sp>
      <p:pic>
        <p:nvPicPr>
          <p:cNvPr id="291" name="Google Shape;29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17388"/>
            <a:ext cx="6096000" cy="3115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232498"/>
            <a:ext cx="5520612" cy="1625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732393"/>
            <a:ext cx="6096000" cy="5953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4"/>
          <p:cNvSpPr txBox="1"/>
          <p:nvPr>
            <p:ph type="title"/>
          </p:nvPr>
        </p:nvSpPr>
        <p:spPr>
          <a:xfrm>
            <a:off x="422239" y="162622"/>
            <a:ext cx="4981204" cy="510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</a:pPr>
            <a:r>
              <a:rPr lang="en-US"/>
              <a:t>How CRF works</a:t>
            </a:r>
            <a:endParaRPr/>
          </a:p>
        </p:txBody>
      </p:sp>
      <p:pic>
        <p:nvPicPr>
          <p:cNvPr id="299" name="Google Shape;29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00186"/>
            <a:ext cx="7173326" cy="3267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3587" y="2782214"/>
            <a:ext cx="7382905" cy="4067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5"/>
          <p:cNvSpPr txBox="1"/>
          <p:nvPr>
            <p:ph type="title"/>
          </p:nvPr>
        </p:nvSpPr>
        <p:spPr>
          <a:xfrm>
            <a:off x="422239" y="162622"/>
            <a:ext cx="4981204" cy="510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</a:pPr>
            <a:r>
              <a:rPr lang="en-US"/>
              <a:t>Semantic Role Labelling</a:t>
            </a:r>
            <a:endParaRPr/>
          </a:p>
        </p:txBody>
      </p:sp>
      <p:sp>
        <p:nvSpPr>
          <p:cNvPr id="306" name="Google Shape;306;p35"/>
          <p:cNvSpPr txBox="1"/>
          <p:nvPr/>
        </p:nvSpPr>
        <p:spPr>
          <a:xfrm>
            <a:off x="0" y="849646"/>
            <a:ext cx="6096000" cy="138499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 1. What Is Semantic Role Labelling?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Semantic Role Labeling (SRL)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the process of analyzing the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meaning structure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 sentence —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identifies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who did what to whom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short, it assigns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roles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words or phrases that describe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they participate in an event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id="307" name="Google Shape;30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2306526"/>
            <a:ext cx="6096000" cy="325437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5"/>
          <p:cNvSpPr txBox="1"/>
          <p:nvPr/>
        </p:nvSpPr>
        <p:spPr>
          <a:xfrm>
            <a:off x="6159758" y="518818"/>
            <a:ext cx="5924939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2. Why SRL Is Required</a:t>
            </a:r>
            <a:endParaRPr/>
          </a:p>
        </p:txBody>
      </p:sp>
      <p:pic>
        <p:nvPicPr>
          <p:cNvPr id="309" name="Google Shape;30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9758" y="782348"/>
            <a:ext cx="5924939" cy="34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5"/>
          <p:cNvSpPr txBox="1"/>
          <p:nvPr/>
        </p:nvSpPr>
        <p:spPr>
          <a:xfrm>
            <a:off x="6159758" y="3933713"/>
            <a:ext cx="6032242" cy="289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 3. How SRL Works (Conceptually)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Predicate Detection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→ Find the main verb(s) or event word(s).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“kicked”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Argument Identification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→ Find related noun phrases or clauses.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“John”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“the ball”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Role Classification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→ Assign semantic roles to each argument: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ARG0 → Agent (doer)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ARG1 → Theme / Patient (thing acted upon)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ARGM-LOC → Location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ARGM-TMP → Time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etc.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These labels come from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PropBank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— a linguistic resource defining typical roles for each verb.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6"/>
          <p:cNvSpPr txBox="1"/>
          <p:nvPr>
            <p:ph type="title"/>
          </p:nvPr>
        </p:nvSpPr>
        <p:spPr>
          <a:xfrm>
            <a:off x="422239" y="162622"/>
            <a:ext cx="4981204" cy="510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</a:pPr>
            <a:r>
              <a:rPr b="1" lang="en-US"/>
              <a:t>Coreference Resolution</a:t>
            </a:r>
            <a:endParaRPr/>
          </a:p>
        </p:txBody>
      </p:sp>
      <p:sp>
        <p:nvSpPr>
          <p:cNvPr id="316" name="Google Shape;316;p36"/>
          <p:cNvSpPr txBox="1"/>
          <p:nvPr/>
        </p:nvSpPr>
        <p:spPr>
          <a:xfrm>
            <a:off x="0" y="892054"/>
            <a:ext cx="6096000" cy="116955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 What is Coreference Resolution?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Coreference Resolution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the task of finding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expressions (mentions)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a text that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 to the same real-world entity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short: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finds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“who”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“what”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 pronoun or noun phrase refers to.</a:t>
            </a:r>
            <a:endParaRPr/>
          </a:p>
        </p:txBody>
      </p:sp>
      <p:sp>
        <p:nvSpPr>
          <p:cNvPr id="317" name="Google Shape;317;p36"/>
          <p:cNvSpPr txBox="1"/>
          <p:nvPr/>
        </p:nvSpPr>
        <p:spPr>
          <a:xfrm>
            <a:off x="0" y="2158892"/>
            <a:ext cx="6139542" cy="33239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🗣 Example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“Riya went to the park. She played football.”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Here: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“Riya” →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antecedent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(the original mention)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“She” →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pronoun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referring to the same entity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 both belong to the same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coreference cluster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🟢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Cluster: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{Riya, She}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🗣 Example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“John told Peter that he would win.”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Ambiguous!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Who is “he”? → John or Peter?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Coreference resolution models must decide, based on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which entity “he” refers to.</a:t>
            </a:r>
            <a:endParaRPr/>
          </a:p>
        </p:txBody>
      </p:sp>
      <p:sp>
        <p:nvSpPr>
          <p:cNvPr id="318" name="Google Shape;318;p36"/>
          <p:cNvSpPr txBox="1"/>
          <p:nvPr/>
        </p:nvSpPr>
        <p:spPr>
          <a:xfrm>
            <a:off x="6139542" y="892054"/>
            <a:ext cx="6052458" cy="5232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 Why is Coreference Resolution Needed?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It’s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essential for real understanding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NLP tasks.</a:t>
            </a:r>
            <a:endParaRPr/>
          </a:p>
        </p:txBody>
      </p:sp>
      <p:graphicFrame>
        <p:nvGraphicFramePr>
          <p:cNvPr id="319" name="Google Shape;319;p36"/>
          <p:cNvGraphicFramePr/>
          <p:nvPr/>
        </p:nvGraphicFramePr>
        <p:xfrm>
          <a:off x="6139542" y="15125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{CC681ABE-C7CE-4E52-A519-F9F18DD80B4B}</a:tableStyleId>
              </a:tblPr>
              <a:tblGrid>
                <a:gridCol w="3026225"/>
                <a:gridCol w="302622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Area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Why it matters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Question Answering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“Who won the match? He was very happy.” → “He” must be linked to the person who won.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Information Extraction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Combine facts about the same entity: “Riya joined Google. She works in AI.”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Text Summarization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Prevents repetition and improves coherence.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Dialogue Systems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Understanding references like “Yes, I liked it too” → what does “it” mean?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0" name="Google Shape;320;p36"/>
          <p:cNvSpPr txBox="1"/>
          <p:nvPr/>
        </p:nvSpPr>
        <p:spPr>
          <a:xfrm>
            <a:off x="6052459" y="4395787"/>
            <a:ext cx="6172200" cy="24622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🧩 How It Works (Conceptually)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Detect mentions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— identify all noun phrases, names, and pronouns.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“Riya”, “She”, “The girl”, “Her friend”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Extract features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each pair: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Gender / Number (singular/plural)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Grammatical role (subject, object)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Semantic similarity (name vs pronoun)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Distance (how far apart)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Contextual embedding similarity (if deep model)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Predict whether they refer to the same entity.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yes → link them into one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cluster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7"/>
          <p:cNvSpPr txBox="1"/>
          <p:nvPr>
            <p:ph type="title"/>
          </p:nvPr>
        </p:nvSpPr>
        <p:spPr>
          <a:xfrm>
            <a:off x="422239" y="162622"/>
            <a:ext cx="4981204" cy="510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</a:pPr>
            <a:r>
              <a:rPr b="1" lang="en-US"/>
              <a:t>Coreference Resolution </a:t>
            </a:r>
            <a:endParaRPr/>
          </a:p>
        </p:txBody>
      </p:sp>
      <p:sp>
        <p:nvSpPr>
          <p:cNvPr id="326" name="Google Shape;326;p37"/>
          <p:cNvSpPr txBox="1"/>
          <p:nvPr/>
        </p:nvSpPr>
        <p:spPr>
          <a:xfrm>
            <a:off x="146180" y="944033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⚙️ Approaches</a:t>
            </a:r>
            <a:endParaRPr/>
          </a:p>
        </p:txBody>
      </p:sp>
      <p:graphicFrame>
        <p:nvGraphicFramePr>
          <p:cNvPr id="327" name="Google Shape;327;p37"/>
          <p:cNvGraphicFramePr/>
          <p:nvPr/>
        </p:nvGraphicFramePr>
        <p:xfrm>
          <a:off x="71568" y="13679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{CC681ABE-C7CE-4E52-A519-F9F18DD80B4B}</a:tableStyleId>
              </a:tblPr>
              <a:tblGrid>
                <a:gridCol w="3122600"/>
                <a:gridCol w="31226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Type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Description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Rule-based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Uses syntactic + gender/number agreement rules (e.g., Hobbs algorithm).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Statistical (ML)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Train a model using pairwise features.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Neural (Deep Learning)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Modern approach — uses embeddings from BERT, SpanBERT, etc., to understand context.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9827" y="0"/>
            <a:ext cx="1808723" cy="21033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8"/>
          <p:cNvSpPr txBox="1"/>
          <p:nvPr/>
        </p:nvSpPr>
        <p:spPr>
          <a:xfrm>
            <a:off x="1542815" y="954717"/>
            <a:ext cx="2207605" cy="1748161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None/>
            </a:pPr>
            <a:r>
              <a:t/>
            </a:r>
            <a:endParaRPr b="0" i="1" sz="1867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4" name="Google Shape;334;p38"/>
          <p:cNvSpPr txBox="1"/>
          <p:nvPr>
            <p:ph idx="10" type="dt"/>
          </p:nvPr>
        </p:nvSpPr>
        <p:spPr>
          <a:xfrm>
            <a:off x="885228" y="620518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23/05/19</a:t>
            </a:r>
            <a:endParaRPr/>
          </a:p>
        </p:txBody>
      </p:sp>
      <p:sp>
        <p:nvSpPr>
          <p:cNvPr id="335" name="Google Shape;335;p38"/>
          <p:cNvSpPr txBox="1"/>
          <p:nvPr>
            <p:ph idx="12" type="sldNum"/>
          </p:nvPr>
        </p:nvSpPr>
        <p:spPr>
          <a:xfrm>
            <a:off x="8965501" y="6314275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6" name="Google Shape;336;p38"/>
          <p:cNvSpPr txBox="1"/>
          <p:nvPr/>
        </p:nvSpPr>
        <p:spPr>
          <a:xfrm>
            <a:off x="885228" y="3429000"/>
            <a:ext cx="476066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You!!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eadlinesVTI">
  <a:themeElements>
    <a:clrScheme name="AnalogousFromDarkSeedLeftStep">
      <a:dk1>
        <a:srgbClr val="000000"/>
      </a:dk1>
      <a:lt1>
        <a:srgbClr val="FFFFFF"/>
      </a:lt1>
      <a:dk2>
        <a:srgbClr val="301B27"/>
      </a:dk2>
      <a:lt2>
        <a:srgbClr val="F0F3F3"/>
      </a:lt2>
      <a:accent1>
        <a:srgbClr val="D43B4E"/>
      </a:accent1>
      <a:accent2>
        <a:srgbClr val="C32A7C"/>
      </a:accent2>
      <a:accent3>
        <a:srgbClr val="D43BCE"/>
      </a:accent3>
      <a:accent4>
        <a:srgbClr val="892AC3"/>
      </a:accent4>
      <a:accent5>
        <a:srgbClr val="5C3BD4"/>
      </a:accent5>
      <a:accent6>
        <a:srgbClr val="2A49C3"/>
      </a:accent6>
      <a:hlink>
        <a:srgbClr val="7F54C6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